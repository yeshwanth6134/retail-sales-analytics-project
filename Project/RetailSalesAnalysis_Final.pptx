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 Medium" charset="1" panose="00000600000000000000"/>
      <p:regular r:id="rId20"/>
    </p:embeddedFont>
    <p:embeddedFont>
      <p:font typeface="Montserrat Bold" charset="1" panose="00000800000000000000"/>
      <p:regular r:id="rId21"/>
    </p:embeddedFont>
    <p:embeddedFont>
      <p:font typeface="Montserrat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92321" y="2026114"/>
            <a:ext cx="7481764" cy="346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2"/>
              </a:lnSpc>
            </a:pPr>
            <a:r>
              <a:rPr lang="en-US" b="true" sz="8564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RETAIL SALES ANALYSIS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170044" y="801502"/>
            <a:ext cx="4678766" cy="4687288"/>
          </a:xfrm>
          <a:custGeom>
            <a:avLst/>
            <a:gdLst/>
            <a:ahLst/>
            <a:cxnLst/>
            <a:rect r="r" b="b" t="t" l="l"/>
            <a:pathLst>
              <a:path h="4687288" w="4678766">
                <a:moveTo>
                  <a:pt x="0" y="0"/>
                </a:moveTo>
                <a:lnTo>
                  <a:pt x="4678766" y="0"/>
                </a:lnTo>
                <a:lnTo>
                  <a:pt x="4678766" y="4687288"/>
                </a:lnTo>
                <a:lnTo>
                  <a:pt x="0" y="4687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8409" y="8428644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7" y="0"/>
                </a:lnTo>
                <a:lnTo>
                  <a:pt x="4763917" y="2381958"/>
                </a:lnTo>
                <a:lnTo>
                  <a:pt x="0" y="2381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92321" y="5901063"/>
            <a:ext cx="9956489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Data Engineering Case Study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886486" y="6708783"/>
            <a:ext cx="3372814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Vishnu Kothapalle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Sai Teja Mudapalli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Chitti Babu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Nirja Gupta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577348"/>
            <a:ext cx="6842469" cy="6382158"/>
          </a:xfrm>
          <a:custGeom>
            <a:avLst/>
            <a:gdLst/>
            <a:ahLst/>
            <a:cxnLst/>
            <a:rect r="r" b="b" t="t" l="l"/>
            <a:pathLst>
              <a:path h="6382158" w="6842469">
                <a:moveTo>
                  <a:pt x="0" y="0"/>
                </a:moveTo>
                <a:lnTo>
                  <a:pt x="6842469" y="0"/>
                </a:lnTo>
                <a:lnTo>
                  <a:pt x="6842469" y="6382157"/>
                </a:lnTo>
                <a:lnTo>
                  <a:pt x="0" y="6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92041" y="1195424"/>
            <a:ext cx="8316639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b="true" sz="56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92041" y="3336617"/>
            <a:ext cx="8093608" cy="617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4"/>
              </a:lnSpc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project builds a complete end-to-end retail data pipeline on Snowflake Project Explanation</a:t>
            </a:r>
          </a:p>
          <a:p>
            <a:pPr algn="l">
              <a:lnSpc>
                <a:spcPts val="3784"/>
              </a:lnSpc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583651" indent="-291825" lvl="1">
              <a:lnSpc>
                <a:spcPts val="3784"/>
              </a:lnSpc>
              <a:buFont typeface="Arial"/>
              <a:buChar char="•"/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Ingest raw files from AWS S3 using Snowpipe</a:t>
            </a:r>
          </a:p>
          <a:p>
            <a:pPr algn="l" marL="583651" indent="-291825" lvl="1">
              <a:lnSpc>
                <a:spcPts val="3784"/>
              </a:lnSpc>
              <a:buFont typeface="Arial"/>
              <a:buChar char="•"/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Process through Bronze → Silver → Gold</a:t>
            </a:r>
          </a:p>
          <a:p>
            <a:pPr algn="l" marL="583651" indent="-291825" lvl="1">
              <a:lnSpc>
                <a:spcPts val="3784"/>
              </a:lnSpc>
              <a:buFont typeface="Arial"/>
              <a:buChar char="•"/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Apply cleaning using Snowpark, PySpark, dbt</a:t>
            </a:r>
          </a:p>
          <a:p>
            <a:pPr algn="l" marL="583651" indent="-291825" lvl="1">
              <a:lnSpc>
                <a:spcPts val="3784"/>
              </a:lnSpc>
              <a:buFont typeface="Arial"/>
              <a:buChar char="•"/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Maintain SCD Type-2 dimensions</a:t>
            </a:r>
          </a:p>
          <a:p>
            <a:pPr algn="l" marL="583651" indent="-291825" lvl="1">
              <a:lnSpc>
                <a:spcPts val="3784"/>
              </a:lnSpc>
              <a:buFont typeface="Arial"/>
              <a:buChar char="•"/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Automate with Streams &amp; Tasks</a:t>
            </a:r>
          </a:p>
          <a:p>
            <a:pPr algn="l" marL="583651" indent="-291825" lvl="1">
              <a:lnSpc>
                <a:spcPts val="3784"/>
              </a:lnSpc>
              <a:buFont typeface="Arial"/>
              <a:buChar char="•"/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Power insights through dashboards</a:t>
            </a:r>
          </a:p>
          <a:p>
            <a:pPr algn="l">
              <a:lnSpc>
                <a:spcPts val="3784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6053" y="2381532"/>
            <a:ext cx="7019004" cy="5844916"/>
          </a:xfrm>
          <a:custGeom>
            <a:avLst/>
            <a:gdLst/>
            <a:ahLst/>
            <a:cxnLst/>
            <a:rect r="r" b="b" t="t" l="l"/>
            <a:pathLst>
              <a:path h="5844916" w="7019004">
                <a:moveTo>
                  <a:pt x="0" y="0"/>
                </a:moveTo>
                <a:lnTo>
                  <a:pt x="7019004" y="0"/>
                </a:lnTo>
                <a:lnTo>
                  <a:pt x="7019004" y="5844916"/>
                </a:lnTo>
                <a:lnTo>
                  <a:pt x="0" y="5844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29813" y="2333907"/>
            <a:ext cx="6867281" cy="638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Modern retail companies generate massive volumes of transactional data, which is often: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Scattered across multiple sources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Inconsistent and difficult to analyze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Filled with quality issues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scalable and structured data pipeline is required to: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Clean and standardize data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Maintain data quality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Support analytics and reporting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Automate updates and ensure accuracy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429813" y="923925"/>
            <a:ext cx="7265449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 Statement</a:t>
            </a:r>
          </a:p>
          <a:p>
            <a:pPr algn="l">
              <a:lnSpc>
                <a:spcPts val="784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4111" y="1255156"/>
            <a:ext cx="9744842" cy="182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7"/>
              </a:lnSpc>
            </a:pPr>
            <a:r>
              <a:rPr lang="en-US" sz="6399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Objectives</a:t>
            </a:r>
          </a:p>
          <a:p>
            <a:pPr algn="l">
              <a:lnSpc>
                <a:spcPts val="716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672626" y="2470986"/>
            <a:ext cx="13843076" cy="730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Primary Objective: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 design and implement an end-to-end, scalable retail analytics platform on Snowflake using the Medallion Architecture.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Specific Objectives:</a:t>
            </a:r>
          </a:p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Raw data is converted into parquet using AWS Glue which internally uses PySpark Script</a:t>
            </a:r>
          </a:p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Ingest raw data using External Stages + Snowpipe</a:t>
            </a:r>
          </a:p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Clean and validate data using Snowpark, PySpark, and dbt</a:t>
            </a:r>
          </a:p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Enforce data quality using dbt tests and custom validations</a:t>
            </a:r>
          </a:p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Build fact and dimension tables in the Gold layer</a:t>
            </a:r>
          </a:p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 incremental processing with Streams &amp; Tasks</a:t>
            </a:r>
          </a:p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Apply SCD Type-2 for historical tracking</a:t>
            </a:r>
          </a:p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Enable analytics for pricing, returns, and customer behavior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12079" y="1720534"/>
            <a:ext cx="13186148" cy="8247449"/>
          </a:xfrm>
          <a:custGeom>
            <a:avLst/>
            <a:gdLst/>
            <a:ahLst/>
            <a:cxnLst/>
            <a:rect r="r" b="b" t="t" l="l"/>
            <a:pathLst>
              <a:path h="8247449" w="13186148">
                <a:moveTo>
                  <a:pt x="0" y="0"/>
                </a:moveTo>
                <a:lnTo>
                  <a:pt x="13186148" y="0"/>
                </a:lnTo>
                <a:lnTo>
                  <a:pt x="13186148" y="8247449"/>
                </a:lnTo>
                <a:lnTo>
                  <a:pt x="0" y="8247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43" t="-9565" r="0" b="-1005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40161" y="279858"/>
            <a:ext cx="726544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Modelling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96649" y="614999"/>
            <a:ext cx="923999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High-L</a:t>
            </a:r>
            <a:r>
              <a:rPr lang="en-US" b="true" sz="56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evel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38532" y="2172054"/>
            <a:ext cx="13497850" cy="996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AWS S3 → Snowpipe → Bronze → Streams → Silver (Snowpark + dbt) → Streams →Gold (SCD2) → Analytical Views → Dashboard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Explanation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Snowpipe auto-loads raw data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Silver layer uses Snowpark cleaning + dbt modeling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Gold layer maintains SCD2 dimensions + Fact_Sales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Tasks automate end-to-end pipeline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 analytical views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 &amp; Technologies: 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Cloud &amp; Storage (AWS S3, Snowflake), 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Ingestion (External Stage, Parquet Format Snowpipe), Transformations (Snowpark (Python) PySpark ,SQL , dbt Cloud)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5232" y="2824448"/>
            <a:ext cx="14424179" cy="664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Batch Processing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Technologies: AWS Glue, AWS S3, PySpark, Snowflake, dbt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 Happens: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Large files processed in scheduled batches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leaning &amp; transformations in Snowpark / dbt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Gold tables refreshed periodically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Real-Time Streaming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Technologies: Snowflake Streams, Tasks, dbt incremental models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What Happens: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Streams capture new/updated rows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Tasks merge changes into SCD2 dimensions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Near real-time analytics enabled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4208"/>
            <a:ext cx="16230600" cy="215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8"/>
              </a:lnSpc>
            </a:pPr>
            <a:r>
              <a:rPr lang="en-US" sz="6184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Pr</a:t>
            </a:r>
            <a:r>
              <a:rPr lang="en-US" sz="6184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ocessing Approaches</a:t>
            </a:r>
          </a:p>
          <a:p>
            <a:pPr algn="l">
              <a:lnSpc>
                <a:spcPts val="8658"/>
              </a:lnSpc>
            </a:pPr>
            <a:r>
              <a:rPr lang="en-US" sz="6184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(Batch + Streaming)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0504" y="476922"/>
            <a:ext cx="11872720" cy="336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Medallion Architecture (Bronze, Silver, Gold)</a:t>
            </a:r>
          </a:p>
          <a:p>
            <a:pPr algn="l">
              <a:lnSpc>
                <a:spcPts val="89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293026" y="2922828"/>
            <a:ext cx="14259658" cy="759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Bronze – Raw Data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Raw Parquet files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Auto-inges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io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 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Snowpipe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transformations (source of truth) Project Explanation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Silver – Cleaned &amp; Standardized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Includes 3 processing stages:</a:t>
            </a:r>
          </a:p>
          <a:p>
            <a:pPr algn="l" marL="582928" indent="-291464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Staging Load using Streams (Bronze → STG)</a:t>
            </a:r>
          </a:p>
          <a:p>
            <a:pPr algn="l" marL="582928" indent="-291464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Snowpark Cleaning: null handling, trimming, date parsing, negative → 0, phone cleaning, NET_PRICE calc, audit logs</a:t>
            </a:r>
          </a:p>
          <a:p>
            <a:pPr algn="l" marL="582928" indent="-291464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dbt Models: mode/median imputations, deduplication, FK checks, business rules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Gold – Business Layer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SCD2 Dimensions (Customer, Supplier, Part)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Fact_Sales built from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all Silver tables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Contains pricing, discount, tax, return info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44111" y="2215515"/>
            <a:ext cx="14424179" cy="786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Data Ingestion: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Raw files st</a:t>
            </a: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ored in S3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Loaded using Snowpipe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Transformation: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Bronze → Silver cleaning via Snowpark/dbt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Silver → Gold modeling via dbt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Data Quality: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dbt tests: not_null, unique, relationships, numeric rules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Incremental Processing: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Streams track changes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Tasks automate refresh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 Analytics: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Pricing, discounts, returns, customer insights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85850"/>
            <a:ext cx="15140685" cy="2054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End-to-End Data Pipeline Flow</a:t>
            </a:r>
          </a:p>
          <a:p>
            <a:pPr algn="l">
              <a:lnSpc>
                <a:spcPts val="806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9089" y="472693"/>
            <a:ext cx="15140685" cy="103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SCD Type-2 &amp; Audit Logging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54553" y="1670113"/>
            <a:ext cx="15493057" cy="913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58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SCD TYPE-2</a:t>
            </a:r>
          </a:p>
          <a:p>
            <a:pPr algn="l">
              <a:lnSpc>
                <a:spcPts val="3615"/>
              </a:lnSpc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Implemented for Customer, Supplier, Product: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Streams detect chang</a:t>
            </a: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 records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Procedure expires old row → CURRENT_FLAG = FALSE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Inserts new row with CURRENT_FLAG = TRUE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Maintain</a:t>
            </a: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full historical tracking</a:t>
            </a:r>
          </a:p>
          <a:p>
            <a:pPr algn="l">
              <a:lnSpc>
                <a:spcPts val="3615"/>
              </a:lnSpc>
            </a:pPr>
          </a:p>
          <a:p>
            <a:pPr algn="l">
              <a:lnSpc>
                <a:spcPts val="3615"/>
              </a:lnSpc>
            </a:pPr>
            <a:r>
              <a:rPr lang="en-US" sz="258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Audit Logging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Snowpark cleansing procedures log all data quality actions (null fixes, type corrections, negative-to-zero conversions, date parsing).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Audit tables capture metadata such as load time, record counts, source file name, and transformation status.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dbt tests generate failure logs for invalid values, FK violations, duplicates, and rule breaches.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Ingestion-level errors (bad rows, parsing failures) are recorded using Snowflake COPY_HISTORY and ERROR views.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Time Travel enables audit-level traceability, letting us query historical data versions for debugging and compliance.</a:t>
            </a:r>
          </a:p>
          <a:p>
            <a:pPr algn="l">
              <a:lnSpc>
                <a:spcPts val="3615"/>
              </a:lnSpc>
            </a:pPr>
          </a:p>
          <a:p>
            <a:pPr algn="l">
              <a:lnSpc>
                <a:spcPts val="361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0941" y="253299"/>
            <a:ext cx="15140685" cy="103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</a:t>
            </a:r>
            <a:r>
              <a:rPr lang="en-US" b="true" sz="72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Travel &amp; Orchestration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29947" y="1401965"/>
            <a:ext cx="16029353" cy="959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58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 Travel</a:t>
            </a:r>
          </a:p>
          <a:p>
            <a:pPr algn="l">
              <a:lnSpc>
                <a:spcPts val="3615"/>
              </a:lnSpc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Used for debugging &amp; audit: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Query </a:t>
            </a: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ast versions of tables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alidate SCD2 behavior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Rest</a:t>
            </a: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ore accidental updates</a:t>
            </a:r>
          </a:p>
          <a:p>
            <a:pPr algn="l">
              <a:lnSpc>
                <a:spcPts val="3615"/>
              </a:lnSpc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s:</a:t>
            </a:r>
          </a:p>
          <a:p>
            <a:pPr algn="l">
              <a:lnSpc>
                <a:spcPts val="3615"/>
              </a:lnSpc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 (TIMESTAMP =&gt; DATEADD(MINUTE,-10,CURRENT_TIMESTAMP()))</a:t>
            </a:r>
          </a:p>
          <a:p>
            <a:pPr algn="l">
              <a:lnSpc>
                <a:spcPts val="3615"/>
              </a:lnSpc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BEFORE (OFFSET =&gt; -3*60*60)</a:t>
            </a:r>
          </a:p>
          <a:p>
            <a:pPr algn="l">
              <a:lnSpc>
                <a:spcPts val="3615"/>
              </a:lnSpc>
            </a:pPr>
          </a:p>
          <a:p>
            <a:pPr algn="l">
              <a:lnSpc>
                <a:spcPts val="3615"/>
              </a:lnSpc>
            </a:pPr>
            <a:r>
              <a:rPr lang="en-US" sz="258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Tasks &amp; Job Orchestration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Snowpipe auto-ingests raw Parquet files from AWS S3 into the Bronze layer.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Streams capture incremental CDC changes from Bronze → Silver → Gold.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Snowflake Tasks orchestrate the ELT workflow, triggering:</a:t>
            </a:r>
          </a:p>
          <a:p>
            <a:pPr algn="l" marL="1115109" indent="-371703" lvl="2">
              <a:lnSpc>
                <a:spcPts val="3615"/>
              </a:lnSpc>
              <a:buFont typeface="Arial"/>
              <a:buChar char="⚬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Bronze → Silver staging load</a:t>
            </a:r>
          </a:p>
          <a:p>
            <a:pPr algn="l" marL="1115109" indent="-371703" lvl="2">
              <a:lnSpc>
                <a:spcPts val="3615"/>
              </a:lnSpc>
              <a:buFont typeface="Arial"/>
              <a:buChar char="⚬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Snowpark cleansing procedures</a:t>
            </a:r>
          </a:p>
          <a:p>
            <a:pPr algn="l" marL="1115109" indent="-371703" lvl="2">
              <a:lnSpc>
                <a:spcPts val="3615"/>
              </a:lnSpc>
              <a:buFont typeface="Arial"/>
              <a:buChar char="⚬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dbt model execution (staging → marts)</a:t>
            </a:r>
          </a:p>
          <a:p>
            <a:pPr algn="l" marL="1115109" indent="-371703" lvl="2">
              <a:lnSpc>
                <a:spcPts val="3615"/>
              </a:lnSpc>
              <a:buFont typeface="Arial"/>
              <a:buChar char="⚬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SCD Type-2 dimension updates in Gold</a:t>
            </a:r>
          </a:p>
          <a:p>
            <a:pPr algn="l" marL="557555" indent="-278777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Pipeline runs on a scheduled DAG of Tasks, ensuring continuous, fully automated data refresh.</a:t>
            </a:r>
          </a:p>
          <a:p>
            <a:pPr algn="l">
              <a:lnSpc>
                <a:spcPts val="3615"/>
              </a:lnSpc>
            </a:pPr>
          </a:p>
          <a:p>
            <a:pPr algn="l">
              <a:lnSpc>
                <a:spcPts val="361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6689" y="320293"/>
            <a:ext cx="15140685" cy="103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b="true" sz="72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Quality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66243" y="2185420"/>
            <a:ext cx="14319959" cy="53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3"/>
              </a:lnSpc>
            </a:pPr>
          </a:p>
          <a:p>
            <a:pPr algn="l">
              <a:lnSpc>
                <a:spcPts val="3943"/>
              </a:lnSpc>
            </a:pPr>
            <a:r>
              <a:rPr lang="en-US" sz="281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Applied at Silver layer using dbt + custom logic:</a:t>
            </a:r>
          </a:p>
          <a:p>
            <a:pPr algn="l" marL="608071" indent="-304036" lvl="1">
              <a:lnSpc>
                <a:spcPts val="3943"/>
              </a:lnSpc>
              <a:buFont typeface="Arial"/>
              <a:buChar char="•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Schema Tests: not-null, unique, FK</a:t>
            </a:r>
          </a:p>
          <a:p>
            <a:pPr algn="l" marL="608071" indent="-304036" lvl="1">
              <a:lnSpc>
                <a:spcPts val="3943"/>
              </a:lnSpc>
              <a:buFont typeface="Arial"/>
              <a:buChar char="•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Cleaning Rules: null fill, trimming, date parsing</a:t>
            </a:r>
          </a:p>
          <a:p>
            <a:pPr algn="l" marL="608071" indent="-304036" lvl="1">
              <a:lnSpc>
                <a:spcPts val="3943"/>
              </a:lnSpc>
              <a:buFont typeface="Arial"/>
              <a:buChar char="•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Rules:</a:t>
            </a:r>
          </a:p>
          <a:p>
            <a:pPr algn="l" marL="1216143" indent="-405381" lvl="2">
              <a:lnSpc>
                <a:spcPts val="3943"/>
              </a:lnSpc>
              <a:buFont typeface="Arial"/>
              <a:buChar char="⚬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iscount (0–1)</a:t>
            </a:r>
          </a:p>
          <a:p>
            <a:pPr algn="l" marL="1216143" indent="-405381" lvl="2">
              <a:lnSpc>
                <a:spcPts val="3943"/>
              </a:lnSpc>
              <a:buFont typeface="Arial"/>
              <a:buChar char="⚬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ax ≥ 0</a:t>
            </a:r>
          </a:p>
          <a:p>
            <a:pPr algn="l" marL="1216143" indent="-405381" lvl="2">
              <a:lnSpc>
                <a:spcPts val="3943"/>
              </a:lnSpc>
              <a:buFont typeface="Arial"/>
              <a:buChar char="⚬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non-negative price/quantity</a:t>
            </a:r>
          </a:p>
          <a:p>
            <a:pPr algn="l" marL="608071" indent="-304036" lvl="1">
              <a:lnSpc>
                <a:spcPts val="3943"/>
              </a:lnSpc>
              <a:buFont typeface="Arial"/>
              <a:buChar char="•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 Tests: digits_only (phone), non_negative, string cleanliness</a:t>
            </a:r>
          </a:p>
          <a:p>
            <a:pPr algn="l" marL="608071" indent="-304036" lvl="1">
              <a:lnSpc>
                <a:spcPts val="3943"/>
              </a:lnSpc>
              <a:buFont typeface="Arial"/>
              <a:buChar char="•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udit Logs after every dbt model run</a:t>
            </a:r>
          </a:p>
          <a:p>
            <a:pPr algn="l">
              <a:lnSpc>
                <a:spcPts val="3943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0157"/>
            <a:ext cx="11732417" cy="94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0"/>
              </a:lnSpc>
            </a:pPr>
            <a:r>
              <a:rPr lang="en-US" b="true" sz="7354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Dashboard Highlights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2373" y="2864329"/>
            <a:ext cx="16043254" cy="579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Metrics </a:t>
            </a: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shown: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Total revenue, quantity, avg discount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Missing value summary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Outlier detection &amp; distribution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Campaign performance (success vs failure)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Monthly/Quarterly pricing charts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Discount vs Sales impact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Return rate heatmaps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Line-item performance comparisons</a:t>
            </a:r>
          </a:p>
          <a:p>
            <a:pPr algn="just">
              <a:lnSpc>
                <a:spcPts val="461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44753" y="2123224"/>
            <a:ext cx="3198495" cy="3204321"/>
          </a:xfrm>
          <a:custGeom>
            <a:avLst/>
            <a:gdLst/>
            <a:ahLst/>
            <a:cxnLst/>
            <a:rect r="r" b="b" t="t" l="l"/>
            <a:pathLst>
              <a:path h="3204321" w="3198495">
                <a:moveTo>
                  <a:pt x="0" y="0"/>
                </a:moveTo>
                <a:lnTo>
                  <a:pt x="3198494" y="0"/>
                </a:lnTo>
                <a:lnTo>
                  <a:pt x="3198494" y="3204320"/>
                </a:lnTo>
                <a:lnTo>
                  <a:pt x="0" y="3204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73887" y="6163399"/>
            <a:ext cx="14140225" cy="157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44"/>
              </a:lnSpc>
            </a:pPr>
            <a:r>
              <a:rPr lang="en-US" b="true" sz="144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65755" y="7691971"/>
            <a:ext cx="995648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 Your Attention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039174" y="8570340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7" y="0"/>
                </a:lnTo>
                <a:lnTo>
                  <a:pt x="4763917" y="2381958"/>
                </a:lnTo>
                <a:lnTo>
                  <a:pt x="0" y="2381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DAG6FZY-akQ</dc:identifier>
  <dcterms:modified xsi:type="dcterms:W3CDTF">2011-08-01T06:04:30Z</dcterms:modified>
  <cp:revision>1</cp:revision>
  <dc:title>Blue and Purple Illustrative Simple Sales Report Presentation</dc:title>
</cp:coreProperties>
</file>